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97280"/>
            <a:ext cx="3108960" cy="3108960"/>
          </a:xfrm>
          <a:prstGeom prst="ellipse">
            <a:avLst/>
          </a:prstGeom>
          <a:solidFill>
            <a:srgbClr val="E8553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926080"/>
          </a:xfrm>
          <a:prstGeom prst="ellipse">
            <a:avLst/>
          </a:prstGeom>
          <a:solidFill>
            <a:srgbClr val="2E6FB7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ARAŞTIRMA PROJESİ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Stigmergik Affect Alanları ve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Affect-Kapılı Arbitrasyon ile Kalabalık Simülasyonu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Duyguyu mekânda yaşatan + ajanın duygusuna göre karar veren bir 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Şimşek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MOTIVASYON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Neden? — Kalabalık felaketleri duygusaldır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İzdiham, tahliye, festival: felaketler çoğu zaman fiziksel değil </a:t>
            </a:r>
            <a:pPr indent="0" marL="0">
              <a:buNone/>
            </a:pPr>
            <a:r>
              <a:rPr lang="en-US" sz="1800" b="1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duygusaldır</a:t>
            </a:r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670048"/>
            <a:ext cx="384048" cy="384048"/>
          </a:xfrm>
          <a:prstGeom prst="ellipse">
            <a:avLst/>
          </a:prstGeom>
          <a:solidFill>
            <a:srgbClr val="2E6F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Panik bir yerde başlar 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mekânda yayılır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28416"/>
            <a:ext cx="384048" cy="384048"/>
          </a:xfrm>
          <a:prstGeom prst="ellipse">
            <a:avLst/>
          </a:prstGeom>
          <a:solidFill>
            <a:srgbClr val="2E6FB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31012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İnsanların hareket kararını değiştirir 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itişme, donma, sürü takibi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384048" cy="384048"/>
          </a:xfrm>
          <a:prstGeom prst="ellipse">
            <a:avLst/>
          </a:prstGeom>
          <a:solidFill>
            <a:srgbClr val="E855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86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96849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darboğaz tıkanması, ezilme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mekân / tahliye tasarımı için: paniğin nerede biriktiğini ve egress'i nasıl yavaşlattığını öngören simülasyon gerekir — ama mevcut modeller bunu yakalayamıyor.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06640" y="1737360"/>
            <a:ext cx="4206240" cy="4297680"/>
          </a:xfrm>
          <a:prstGeom prst="rect">
            <a:avLst/>
          </a:prstGeom>
          <a:solidFill>
            <a:srgbClr val="0F1A33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17" name="Image 0" descr="D:/Repo/My project (3)/paper/figures/fig4_agent_drain.png">    </p:cNvPr>
          <p:cNvPicPr>
            <a:picLocks noChangeAspect="1"/>
          </p:cNvPicPr>
          <p:nvPr/>
        </p:nvPicPr>
        <p:blipFill>
          <a:blip r:embed="rId1"/>
          <a:srcRect l="0" r="0" t="-1220" b="-1220"/>
          <a:stretch/>
        </p:blipFill>
        <p:spPr>
          <a:xfrm>
            <a:off x="7635240" y="1965960"/>
            <a:ext cx="37490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ARAŞTIRMA BOŞLUĞU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Mevcut yaklaşımların iki temel eksiği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5394960" cy="594360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BOŞLUK 1 — Duygu modeli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 = kişiden-kişiye bulaşma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 → agent, komşu grafiği)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kalıcılık YOK: insanlar gidince o yerin paniği onlarla birlikte kaybolur. O(N²), duygu özel bir iç-durum.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737360"/>
            <a:ext cx="5394960" cy="594360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7373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BOŞLUK 2 — Hareket modeli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25603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katı fizik ya kara-kutu RL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(Social Force vs. öğrenen politika)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Kimse, ajanın DUYGUSUNA göre 'fiziğe mi yoksa kendi düzeltmeme mi güveneyim' kararını öğrenmesini sağlamıyor.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FİKRİMİZ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İki ayaklı çözüm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206240"/>
          </a:xfrm>
          <a:prstGeom prst="rect">
            <a:avLst/>
          </a:prstGeom>
          <a:solidFill>
            <a:srgbClr val="0F1A33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Stigmergik affect alanı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 = ortamda yaşayan bir ALAN.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Ajanlar affect bırakır → alan yayılır ve söner → ajanlar okur.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Panik artık MEKÂNIN özelliği — birikir, kalır (karınca feromonu gibi).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4206240"/>
          </a:xfrm>
          <a:prstGeom prst="rect">
            <a:avLst/>
          </a:prstGeom>
          <a:solidFill>
            <a:srgbClr val="0F1A33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Affect-kapılı arbitrasyon λ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37960" y="301752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fizik ile RL düzeltmesi arasında harman ağırlığı.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Ajanın duygusuna göre ayarlanır (dual-process: stres → reaktif System-1).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ivme = λ · fizik + (1−λ) · RL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NASIL ÇALIŞIR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Döngü: duygu mekânı şekillendirir → kontrol modunu değiştirir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965960" cy="1737360"/>
          </a:xfrm>
          <a:prstGeom prst="rect">
            <a:avLst/>
          </a:prstGeom>
          <a:solidFill>
            <a:srgbClr val="FBFCFE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1965960" cy="109728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yoğunluk, uyaran,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87752" y="2286000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26080" y="2286000"/>
            <a:ext cx="1965960" cy="1737360"/>
          </a:xfrm>
          <a:prstGeom prst="rect">
            <a:avLst/>
          </a:prstGeom>
          <a:solidFill>
            <a:srgbClr val="FBFCFE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0" y="2286000"/>
            <a:ext cx="1965960" cy="109728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AFFECT ALANI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30175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→ yayılım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sönüm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2286000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212080" y="2286000"/>
            <a:ext cx="1965960" cy="1737360"/>
          </a:xfrm>
          <a:prstGeom prst="rect">
            <a:avLst/>
          </a:prstGeom>
          <a:solidFill>
            <a:srgbClr val="FBFCFE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2286000"/>
            <a:ext cx="1965960" cy="109728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Bilişsel durum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30175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 yükü,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basıncı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59752" y="2286000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498080" y="2286000"/>
            <a:ext cx="1965960" cy="1737360"/>
          </a:xfrm>
          <a:prstGeom prst="rect">
            <a:avLst/>
          </a:prstGeom>
          <a:solidFill>
            <a:srgbClr val="FBFCFE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0" y="2286000"/>
            <a:ext cx="1965960" cy="109728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Arbitrasyon λ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0" y="30175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σ(RL + k·affect)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45752" y="2286000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784080" y="2286000"/>
            <a:ext cx="1965960" cy="1737360"/>
          </a:xfrm>
          <a:prstGeom prst="rect">
            <a:avLst/>
          </a:prstGeom>
          <a:solidFill>
            <a:srgbClr val="FBFCFE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84080" y="2286000"/>
            <a:ext cx="1965960" cy="109728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Hareket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84080" y="30175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λ·fizik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(1−λ)·RL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572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NEREDE stres birikeceğini belirler; arbitrasyon ajanın o strese NASIL tepki vereceğini (içgüdü mü, akıl mı). İkisi birlikte emergent kalabalık davranışı üretir.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1 / SÜTUN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Alan mekânsal duygu yapısı üretiyor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E85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Moran's I (field açık)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 (field kapalı)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 alanı, duygunun mekânsal olarak KÜMELENDİĞİNİ gösteriyor.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İstatistiksel anlamlı (p&lt;0.001, 10 seed). İkili-bulaşma bunu üretemiyor.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0" y="1737360"/>
            <a:ext cx="7680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9" name="Image 0" descr="D:/Repo/My project (3)/paper/figures/fig1_morans_i.png">    </p:cNvPr>
          <p:cNvPicPr>
            <a:picLocks noChangeAspect="1"/>
          </p:cNvPicPr>
          <p:nvPr/>
        </p:nvPicPr>
        <p:blipFill>
          <a:blip r:embed="rId1"/>
          <a:srcRect l="-40698" r="-40698" t="0" b="0"/>
          <a:stretch/>
        </p:blipFill>
        <p:spPr>
          <a:xfrm>
            <a:off x="4206240" y="1965960"/>
            <a:ext cx="71323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2 / SÜTUN 1 — EN GÜÇLÜ KANIT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Alan, ajanlar gidince bile YAŞAR (çevresel bellek)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7665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D:/Repo/My project (3)/paper/figures/fig4_agent_drain.png">    </p:cNvPr>
          <p:cNvPicPr>
            <a:picLocks noChangeAspect="1"/>
          </p:cNvPicPr>
          <p:nvPr/>
        </p:nvPicPr>
        <p:blipFill>
          <a:blip r:embed="rId1"/>
          <a:srcRect l="-30233" r="-30233" t="0" b="0"/>
          <a:stretch/>
        </p:blipFill>
        <p:spPr>
          <a:xfrm>
            <a:off x="777240" y="1965960"/>
            <a:ext cx="630936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0" y="1920240"/>
            <a:ext cx="4023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Agent-drain testi: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 saniyede TÜM ajanlar kaldırıldı.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anında sıfırlanmadı — kendi hızında (k≈0.34/s) sönerek devam etti. Drain'den 2s sonra hâlâ %52'si var.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İkili-bulaşma bunu YAPAMAZ (ajan gidince affect anında 0). → çürütüldü.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3 / SÜTUN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 gerçekten affect'e bağlı (süs değil)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035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D:/Repo/My project (3)/paper/figures/fig2_lambda_map.png">    </p:cNvPr>
          <p:cNvPicPr>
            <a:picLocks noChangeAspect="1"/>
          </p:cNvPicPr>
          <p:nvPr/>
        </p:nvPicPr>
        <p:blipFill>
          <a:blip r:embed="rId1"/>
          <a:srcRect l="-19767" r="-19767" t="0" b="0"/>
          <a:stretch/>
        </p:blipFill>
        <p:spPr>
          <a:xfrm>
            <a:off x="822960" y="1965960"/>
            <a:ext cx="548640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2011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6F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= 0.67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858000" y="2971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affect, λ'nın %67'sini açıklıyor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(serbest RL'de R²≈0 — sabit λ idi)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0" y="393192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affect → λ fiziğe doğru (dual-process yönü, λ–load r=0.83).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 gerçekten kuvvetle sürüldüğü için λ davranışı GERÇEKTEN kontrol ediyor.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 çalışıyor + gerçek-veri uyumu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745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5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2.5×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öğrenen kontrolcü, saf fiziğe göre daha çok hedefe ulaşıyor (throughput)</a:t>
            </a:r>
            <a:endParaRPr lang="en-US" sz="1300" dirty="0"/>
          </a:p>
        </p:txBody>
      </p:sp>
      <p:pic>
        <p:nvPicPr>
          <p:cNvPr id="8" name="Image 0" descr="D:/Repo/My project (3)/paper/figures/fig3_throughput.png">    </p:cNvPr>
          <p:cNvPicPr>
            <a:picLocks noChangeAspect="1"/>
          </p:cNvPicPr>
          <p:nvPr/>
        </p:nvPicPr>
        <p:blipFill>
          <a:blip r:embed="rId1"/>
          <a:srcRect l="-38525" r="-38525" t="0" b="0"/>
          <a:stretch/>
        </p:blipFill>
        <p:spPr>
          <a:xfrm>
            <a:off x="822960" y="3154680"/>
            <a:ext cx="4937760" cy="2788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09360" y="173736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F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Fundamental Diagram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92240" y="22860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serbest hız 1.38 ≈ Weidmann 1.34; 1.7 ped/m²'de 0.48 → ampirik uyum</a:t>
            </a:r>
            <a:endParaRPr lang="en-US" sz="1300" dirty="0"/>
          </a:p>
        </p:txBody>
      </p:sp>
      <p:pic>
        <p:nvPicPr>
          <p:cNvPr id="12" name="Image 1" descr="D:/Repo/My project (3)/paper/figures/fig5_fundamental_diagram.png">    </p:cNvPr>
          <p:cNvPicPr>
            <a:picLocks noChangeAspect="1"/>
          </p:cNvPicPr>
          <p:nvPr/>
        </p:nvPicPr>
        <p:blipFill>
          <a:blip r:embed="rId2"/>
          <a:srcRect l="-32353" r="-32353" t="0" b="0"/>
          <a:stretch/>
        </p:blipFill>
        <p:spPr>
          <a:xfrm>
            <a:off x="6400800" y="2834640"/>
            <a:ext cx="51206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KAFA KAFAYA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Alan (bizim) vs Kişiden-kişiye bulaşma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0" y="1783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Stigmergik ALAN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0" y="1783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İkili bulaşma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4114800" cy="868680"/>
          </a:xfrm>
          <a:prstGeom prst="rect">
            <a:avLst/>
          </a:prstGeom>
          <a:solidFill>
            <a:srgbClr val="FBFCFE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3774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yapı (Moran's I)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377440"/>
            <a:ext cx="3383280" cy="868680"/>
          </a:xfrm>
          <a:prstGeom prst="rect">
            <a:avLst/>
          </a:prstGeom>
          <a:solidFill>
            <a:srgbClr val="FFF1ED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377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0" y="2377440"/>
            <a:ext cx="338328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2377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4114800" cy="868680"/>
          </a:xfrm>
          <a:prstGeom prst="rect">
            <a:avLst/>
          </a:prstGeom>
          <a:solidFill>
            <a:srgbClr val="FBFCFE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383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Yer-belleği (ajan gidince)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383280"/>
            <a:ext cx="3383280" cy="868680"/>
          </a:xfrm>
          <a:prstGeom prst="rect">
            <a:avLst/>
          </a:prstGeom>
          <a:solidFill>
            <a:srgbClr val="FFF1ED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383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 (k≈0.34)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0" y="3383280"/>
            <a:ext cx="338328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0" y="3383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Yok (anında 0)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4114800" cy="868680"/>
          </a:xfrm>
          <a:prstGeom prst="rect">
            <a:avLst/>
          </a:prstGeom>
          <a:solidFill>
            <a:srgbClr val="FBFCFE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3891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(throughput)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4389120"/>
            <a:ext cx="3383280" cy="868680"/>
          </a:xfrm>
          <a:prstGeom prst="rect">
            <a:avLst/>
          </a:prstGeom>
          <a:solidFill>
            <a:srgbClr val="FFF1ED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43891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18.8–24.1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29600" y="4389120"/>
            <a:ext cx="338328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0" y="43891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8.6–9.6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simülasyon, aynı 10 seed: alan eklenince mekânsal yapı + bellek ortaya çıkıyor; ikili-bulaşma ikisini de üretemiyor.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146304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DEĞERLENDIRME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Sınırlamalar (overclaim yok)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46304" cy="822960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fizik-baskın  —  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affect'e bağlı ama davranışsal etkisi şu an mütevazı (Full ≈ FixedLambda)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52928"/>
            <a:ext cx="146304" cy="822960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8072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Tasarlanmış vs öğrenilen gate  —  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affect-bağı kısmen tasarımla; serbest RL keşfetmedi (dürüst negatif bulgu)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877056"/>
            <a:ext cx="146304" cy="822960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831336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  —  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açık arena, ~20 ajan; çoklu-çıkış / büyük senaryolar gelecek iş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901184"/>
            <a:ext cx="146304" cy="822960"/>
          </a:xfrm>
          <a:prstGeom prst="rect">
            <a:avLst/>
          </a:prstGeom>
          <a:solidFill>
            <a:srgbClr val="E8553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855464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aşırı yoğunluk  —  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≤1.7 ped/m² uyumlu; jamming için ORCA/RVO temas modeli gerek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846320"/>
            <a:ext cx="3291840" cy="3291840"/>
          </a:xfrm>
          <a:prstGeom prst="ellipse">
            <a:avLst/>
          </a:prstGeom>
          <a:solidFill>
            <a:srgbClr val="E8553B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Katkı: iki kanıtlı ayak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Stigmergik affect alanı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mekânsal yapı (Moran's I 0.84) + çevresel bellek (agent-drain). İkili-bulaşmadan temel fark.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Affect-kapılı öğrenilen arbitrasyon λ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R²=0.67, hareketi gerçekten sürüyor + RL throughput 2.5× + FD ampirik uyum.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Gelecek: </a:t>
            </a:r>
            <a:pPr indent="0" marL="0">
              <a:buNone/>
            </a:pPr>
            <a:r>
              <a:rPr lang="en-US" sz="1400" i="1" dirty="0">
                <a:solidFill>
                  <a:srgbClr val="9F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precision-temelli gate (active inference) · anizotropik akış-bağlı difüzyon · çoklu-senaryo · gerçek-veri doğrulama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Stigmergik Affect Alanlari ile Kalabalik Simulasyonu</dc:title>
  <dc:subject>PptxGenJS Presentation</dc:subject>
  <dc:creator>Asim Simsek</dc:creator>
  <cp:lastModifiedBy>Asim Simsek</cp:lastModifiedBy>
  <cp:revision>1</cp:revision>
  <dcterms:created xsi:type="dcterms:W3CDTF">2026-06-17T20:06:12Z</dcterms:created>
  <dcterms:modified xsi:type="dcterms:W3CDTF">2026-06-17T20:06:12Z</dcterms:modified>
</cp:coreProperties>
</file>